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5191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Presento un modelo que estima, para cada cliente, la probabilidad de que vuelva a comprar. El dataset son 24 meses de tickets de Online Retail II: UK, artículos de regalo, muchos mayoristas. Sobre 4.933 clientes válidos, la mitad recompra, y el modelo alcanza un AUC de 0,81. La idea es usarlo para decidir a quién fidelizar y a quién intentar retener.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estimar la probabilidad de recompra. Como los datos son tickets sueltos, no hay una columna que diga si recompró, así que la creamos con una fecha de corte: con lo anterior calculamos el perfil del cliente (recencia, frecuencia, gasto) y con lo posterior miramos si volvió a comprar. Excluimos lo que no aporta señal limpia: ventas sin cliente identificado (un 23%), cancelaciones, valores imposibles, y acotamos los outliers de mayoristas. Quedan casi 5.000 clientes con un 53% de recompra: clases equilibradas.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ideas del exploratorio. Primero, la facturación tiene estacionalidad muy clara, con pico antes de Navidad los dos años. Segundo, el negocio está muy concentrado en Reino Unido, un 92% de las líneas, así que el país aporta poca señal. Y tercero, muchos clientes compran una sola vez, lo que hace interesante predecir quién va a volver.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Comparamos tres algoritmos con validación cruzada: logística, Random Forest y XGBoost. Gana XGBoost optimizado, con AUC 0,81 en test; la logística da casi lo mismo y sirve de respaldo interpretable. La curva ROC muestra que separa muy por encima del azar. Y lo accionable: las variables que más pesan son frecuencia, número de artículos, ritmo de compra y recencia. El mejor predictor de que un cliente vuelva es lo activo que ha sido hasta ahora.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Conclusión de negocio: al aplicar el modelo a toda la base y partirla en tres segmentos por probabilidad, la separación es nítida. En alta probabilidad, unos 1.500 clientes, el 91% recompró de verdad; en el medio, el 54%; en el bajo, solo el 21%. Eso valida que las probabilidades son fiables. Propuesta: fidelizar al alto, donde cada euro rinde más; activar al medio; y lanzar retención al bajo, donde está el riesgo de fuga.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terminar, cómo seguir: incorporar variables de comportamiento (categorías, estacionalidad, devoluciones); probar distintas fechas de corte y horizontes; calibrar las probabilidades para los umbrales de negocio; añadir SHAP para explicar caso a caso; y validar con un test A/B real de las campañas. 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8A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MACHINE LEARNING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de probabilidad de recompra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49808" y="26060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clientes propensos a volver a comprar para dirigir acciones de fidelización y retención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8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1,07 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9748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8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4.933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69748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modelados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8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52,7 %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6344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recompra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2940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8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0,81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del modelo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Ismael  ·  Junio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5D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1624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 HIPÓTESIS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60350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buscamos y qué dejamos fuera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4160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75564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la probabilidad de recompra de cada cliente para priorizar fidelización (prob. alta) y retención (prob. baja).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y enfoque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834640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 es transaccional, sin variable objetivo.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construimos con una fecha de corte (01-06-2011).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corte: variables RFM por cliente.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del corte: etiqueta de recompra (sí / no).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92040" y="1325880"/>
            <a:ext cx="3749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07492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hemos excluido (y por qué)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4920" y="18105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sin ID (22,8 %)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74920" y="204825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atribuibles a un cliente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241401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Cancelaciones (facturas 'C')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74920" y="265176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devoluciones, no compras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30175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o precio menor o igual a 0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74920" y="325526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imposibles / ajustes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36210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extremos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74920" y="385876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winsorizados (efecto mayorista)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la limpieza: 793.609 líneas válidas · 4.933 clientes · 52,7 % recompra (clases equilibradas).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5D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1624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60350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dicen los datos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5074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8" name="Image 0" descr="figuras/02_revenue_mens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417320"/>
            <a:ext cx="4480560" cy="2240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367588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Estacionalidad marcada: pico de ventas antes de Navidad (oct–nov) los dos años.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60720" y="1325880"/>
            <a:ext cx="28803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1" name="Image 1" descr="figuras/01_top_pai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761935"/>
            <a:ext cx="2697480" cy="15510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367588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Reino Unido concentra ~92 % de las líneas.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02920" y="4160520"/>
            <a:ext cx="2606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0"/>
          <p:cNvSpPr/>
          <p:nvPr/>
        </p:nvSpPr>
        <p:spPr>
          <a:xfrm>
            <a:off x="612648" y="42245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~92 %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12648" y="4535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en Reino Unido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46120" y="4160520"/>
            <a:ext cx="2606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3"/>
          <p:cNvSpPr/>
          <p:nvPr/>
        </p:nvSpPr>
        <p:spPr>
          <a:xfrm>
            <a:off x="3355848" y="42245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Pico Nov.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355848" y="4535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 estacionalidad navideña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989320" y="4160520"/>
            <a:ext cx="2606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6"/>
          <p:cNvSpPr/>
          <p:nvPr/>
        </p:nvSpPr>
        <p:spPr>
          <a:xfrm>
            <a:off x="6099048" y="42245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Compra única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099048" y="4535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clientes compran una sola vez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5D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1624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60350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 optimizado · AUC 0,81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32461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8" name="Image 0" descr="figuras/08_curva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52954"/>
            <a:ext cx="3063240" cy="25919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931920" y="1325880"/>
            <a:ext cx="47091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0" name="Image 1" descr="figuras/09_importancia_variab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580" y="1371600"/>
            <a:ext cx="3291840" cy="20574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931920" y="3611880"/>
            <a:ext cx="2286000" cy="960120"/>
          </a:xfrm>
          <a:prstGeom prst="rect">
            <a:avLst/>
          </a:prstGeom>
          <a:solidFill>
            <a:srgbClr val="1624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8"/>
          <p:cNvSpPr/>
          <p:nvPr/>
        </p:nvSpPr>
        <p:spPr>
          <a:xfrm>
            <a:off x="4023360" y="37124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8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 = 0,81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023360" y="4114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test · ordena bien a los clientes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55080" y="3611880"/>
            <a:ext cx="2286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1"/>
          <p:cNvSpPr/>
          <p:nvPr/>
        </p:nvSpPr>
        <p:spPr>
          <a:xfrm>
            <a:off x="6464808" y="36758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clave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464808" y="3931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· nº de artículos · ritmo de compra · recencia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0292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Comparados regresión logística, Random Forest y XGBoost — gana XGBoost optimizado (la logística queda casi igual, como respaldo interpretable).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5D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1624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60350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probabilidad a la acción comercial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45720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66928" y="1417320"/>
            <a:ext cx="4443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separa con nitidez: a más probabilidad, más recompra real.</a:t>
            </a:r>
            <a:endParaRPr lang="en-US" sz="1150" dirty="0"/>
          </a:p>
        </p:txBody>
      </p:sp>
      <p:pic>
        <p:nvPicPr>
          <p:cNvPr id="9" name="Image 0" descr="figuras/10_segment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61335"/>
            <a:ext cx="4443984" cy="202093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257800" y="1325880"/>
            <a:ext cx="3383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5257800" y="1325880"/>
            <a:ext cx="91440" cy="96012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5440680" y="13990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 ·  1.500 clientes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40680" y="16367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91 % recompró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40680" y="185623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Fidelización: programa VIP, ventas cruzadas, novedades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257800" y="2423160"/>
            <a:ext cx="3383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5257800" y="2423160"/>
            <a:ext cx="91440" cy="960120"/>
          </a:xfrm>
          <a:prstGeom prst="rect">
            <a:avLst/>
          </a:prstGeom>
          <a:solidFill>
            <a:srgbClr val="E08A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5440680" y="24963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 ·  1.561 clientes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440680" y="273405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54 % recompró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40680" y="295351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Activación: incentivos puntuales y recomendaciones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257800" y="3520440"/>
            <a:ext cx="3383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5257800" y="3520440"/>
            <a:ext cx="91440" cy="960120"/>
          </a:xfrm>
          <a:prstGeom prst="rect">
            <a:avLst/>
          </a:prstGeom>
          <a:solidFill>
            <a:srgbClr val="C0504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5440680" y="35935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 ·  1.872 clientes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440680" y="38313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21 % recompró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40680" y="405079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Retención: campaña de recuperación y reenganche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8A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mejorar el modelo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402336" cy="402336"/>
          </a:xfrm>
          <a:prstGeom prst="ellipse">
            <a:avLst/>
          </a:prstGeom>
          <a:solidFill>
            <a:srgbClr val="E08A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82880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variables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18288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de producto, estacionalidad por cliente y devoluciones.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395728"/>
            <a:ext cx="402336" cy="402336"/>
          </a:xfrm>
          <a:prstGeom prst="ellipse">
            <a:avLst/>
          </a:prstGeom>
          <a:solidFill>
            <a:srgbClr val="E08A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31520" y="23957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395728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 temporal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23957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distintas fechas de corte y horizontes de predicción.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2962656"/>
            <a:ext cx="402336" cy="402336"/>
          </a:xfrm>
          <a:prstGeom prst="ellipse">
            <a:avLst/>
          </a:prstGeom>
          <a:solidFill>
            <a:srgbClr val="E08A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31520" y="29626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962656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296265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las probabilidades (Platt / isotónica) para los umbrales de negocio.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3529584"/>
            <a:ext cx="402336" cy="402336"/>
          </a:xfrm>
          <a:prstGeom prst="ellipse">
            <a:avLst/>
          </a:prstGeom>
          <a:solidFill>
            <a:srgbClr val="E08A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731520" y="3529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352958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97680" y="352958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para entender el porqué a nivel de cliente individual.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" y="4096512"/>
            <a:ext cx="402336" cy="402336"/>
          </a:xfrm>
          <a:prstGeom prst="ellipse">
            <a:avLst/>
          </a:prstGeom>
          <a:solidFill>
            <a:srgbClr val="E08A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731520" y="4096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4096512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real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97680" y="409651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A/B de las campañas para medir impacto e incrementalidad.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709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 ·  Ismael  ·  Proyecto Machine Learning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929</Words>
  <Application>Microsoft Office PowerPoint</Application>
  <PresentationFormat>Presentación en pantalla (16:9)</PresentationFormat>
  <Paragraphs>94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probabilidad de recompra — Online Retail II</dc:title>
  <dc:subject>PptxGenJS Presentation</dc:subject>
  <dc:creator>Ismael</dc:creator>
  <cp:lastModifiedBy>Jorge</cp:lastModifiedBy>
  <cp:revision>1</cp:revision>
  <dcterms:created xsi:type="dcterms:W3CDTF">2026-06-17T15:22:57Z</dcterms:created>
  <dcterms:modified xsi:type="dcterms:W3CDTF">2026-06-17T16:33:27Z</dcterms:modified>
</cp:coreProperties>
</file>